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DM Sans" pitchFamily="2" charset="0"/>
      <p:regular r:id="rId8"/>
    </p:embeddedFont>
    <p:embeddedFont>
      <p:font typeface="Poppins" panose="00000500000000000000" pitchFamily="2" charset="0"/>
      <p:regular r:id="rId9"/>
    </p:embeddedFont>
    <p:embeddedFont>
      <p:font typeface="Poppins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Pablo Grossi" userId="92d732fde8bef746" providerId="LiveId" clId="{AF318601-4359-4AB5-B831-7B0FFBAB5E6E}"/>
    <pc:docChg chg="custSel modSld">
      <pc:chgData name="Juan Pablo Grossi" userId="92d732fde8bef746" providerId="LiveId" clId="{AF318601-4359-4AB5-B831-7B0FFBAB5E6E}" dt="2026-03-17T02:07:27.112" v="22" actId="1076"/>
      <pc:docMkLst>
        <pc:docMk/>
      </pc:docMkLst>
      <pc:sldChg chg="addSp delSp modSp mod">
        <pc:chgData name="Juan Pablo Grossi" userId="92d732fde8bef746" providerId="LiveId" clId="{AF318601-4359-4AB5-B831-7B0FFBAB5E6E}" dt="2026-03-17T02:07:27.112" v="22" actId="1076"/>
        <pc:sldMkLst>
          <pc:docMk/>
          <pc:sldMk cId="0" sldId="256"/>
        </pc:sldMkLst>
        <pc:spChg chg="del">
          <ac:chgData name="Juan Pablo Grossi" userId="92d732fde8bef746" providerId="LiveId" clId="{AF318601-4359-4AB5-B831-7B0FFBAB5E6E}" dt="2026-03-17T02:06:27.022" v="0" actId="478"/>
          <ac:spMkLst>
            <pc:docMk/>
            <pc:sldMk cId="0" sldId="256"/>
            <ac:spMk id="12" creationId="{00000000-0000-0000-0000-000000000000}"/>
          </ac:spMkLst>
        </pc:spChg>
        <pc:grpChg chg="del">
          <ac:chgData name="Juan Pablo Grossi" userId="92d732fde8bef746" providerId="LiveId" clId="{AF318601-4359-4AB5-B831-7B0FFBAB5E6E}" dt="2026-03-17T02:06:28.488" v="1" actId="478"/>
          <ac:grpSpMkLst>
            <pc:docMk/>
            <pc:sldMk cId="0" sldId="256"/>
            <ac:grpSpMk id="8" creationId="{00000000-0000-0000-0000-000000000000}"/>
          </ac:grpSpMkLst>
        </pc:grpChg>
        <pc:picChg chg="add mod">
          <ac:chgData name="Juan Pablo Grossi" userId="92d732fde8bef746" providerId="LiveId" clId="{AF318601-4359-4AB5-B831-7B0FFBAB5E6E}" dt="2026-03-17T02:07:27.112" v="22" actId="1076"/>
          <ac:picMkLst>
            <pc:docMk/>
            <pc:sldMk cId="0" sldId="256"/>
            <ac:picMk id="15" creationId="{8FAF7E9A-5C98-7ADF-01AC-7009CD08AF8A}"/>
          </ac:picMkLst>
        </pc:picChg>
      </pc:sldChg>
      <pc:sldChg chg="modSp mod">
        <pc:chgData name="Juan Pablo Grossi" userId="92d732fde8bef746" providerId="LiveId" clId="{AF318601-4359-4AB5-B831-7B0FFBAB5E6E}" dt="2026-03-17T02:06:43.091" v="18" actId="20577"/>
        <pc:sldMkLst>
          <pc:docMk/>
          <pc:sldMk cId="0" sldId="257"/>
        </pc:sldMkLst>
        <pc:spChg chg="mod">
          <ac:chgData name="Juan Pablo Grossi" userId="92d732fde8bef746" providerId="LiveId" clId="{AF318601-4359-4AB5-B831-7B0FFBAB5E6E}" dt="2026-03-17T02:06:43.091" v="18" actId="20577"/>
          <ac:spMkLst>
            <pc:docMk/>
            <pc:sldMk cId="0" sldId="257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72999" y="-1448305"/>
            <a:ext cx="4715001" cy="13183610"/>
            <a:chOff x="0" y="0"/>
            <a:chExt cx="1241811" cy="34722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1811" cy="3472226"/>
            </a:xfrm>
            <a:custGeom>
              <a:avLst/>
              <a:gdLst/>
              <a:ahLst/>
              <a:cxnLst/>
              <a:rect l="l" t="t" r="r" b="b"/>
              <a:pathLst>
                <a:path w="1241811" h="3472226">
                  <a:moveTo>
                    <a:pt x="0" y="0"/>
                  </a:moveTo>
                  <a:lnTo>
                    <a:pt x="1241811" y="0"/>
                  </a:lnTo>
                  <a:lnTo>
                    <a:pt x="1241811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rgbClr val="17157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241811" cy="3491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0529" y="5755407"/>
            <a:ext cx="124476" cy="3816499"/>
            <a:chOff x="0" y="0"/>
            <a:chExt cx="28371" cy="8698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371" cy="869881"/>
            </a:xfrm>
            <a:custGeom>
              <a:avLst/>
              <a:gdLst/>
              <a:ahLst/>
              <a:cxnLst/>
              <a:rect l="l" t="t" r="r" b="b"/>
              <a:pathLst>
                <a:path w="28371" h="869881">
                  <a:moveTo>
                    <a:pt x="0" y="0"/>
                  </a:moveTo>
                  <a:lnTo>
                    <a:pt x="28371" y="0"/>
                  </a:lnTo>
                  <a:lnTo>
                    <a:pt x="28371" y="869881"/>
                  </a:lnTo>
                  <a:lnTo>
                    <a:pt x="0" y="869881"/>
                  </a:lnTo>
                  <a:close/>
                </a:path>
              </a:pathLst>
            </a:custGeom>
            <a:solidFill>
              <a:srgbClr val="171576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8371" cy="888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18361" y="6058862"/>
            <a:ext cx="7666165" cy="191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6"/>
              </a:lnSpc>
            </a:pPr>
            <a:r>
              <a:rPr lang="en-US" sz="4447" b="1" spc="66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ANÁLISIS DE DEVOLUCIONES Y PRIORIZACIÓN DE TRIAGE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FAF7E9A-5C98-7ADF-01AC-7009CD08A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715094"/>
            <a:ext cx="8458200" cy="47429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2172323" y="1197968"/>
            <a:ext cx="20562816" cy="8060332"/>
            <a:chOff x="0" y="0"/>
            <a:chExt cx="5415721" cy="21228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15721" cy="2122886"/>
            </a:xfrm>
            <a:custGeom>
              <a:avLst/>
              <a:gdLst/>
              <a:ahLst/>
              <a:cxnLst/>
              <a:rect l="l" t="t" r="r" b="b"/>
              <a:pathLst>
                <a:path w="5415721" h="2122886">
                  <a:moveTo>
                    <a:pt x="0" y="0"/>
                  </a:moveTo>
                  <a:lnTo>
                    <a:pt x="5415721" y="0"/>
                  </a:lnTo>
                  <a:lnTo>
                    <a:pt x="5415721" y="2122886"/>
                  </a:lnTo>
                  <a:lnTo>
                    <a:pt x="0" y="2122886"/>
                  </a:lnTo>
                  <a:close/>
                </a:path>
              </a:pathLst>
            </a:custGeom>
            <a:solidFill>
              <a:srgbClr val="17157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5415721" cy="2141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933368" y="597263"/>
            <a:ext cx="5917181" cy="9092474"/>
            <a:chOff x="0" y="0"/>
            <a:chExt cx="1066718" cy="16391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6718" cy="1639143"/>
            </a:xfrm>
            <a:custGeom>
              <a:avLst/>
              <a:gdLst/>
              <a:ahLst/>
              <a:cxnLst/>
              <a:rect l="l" t="t" r="r" b="b"/>
              <a:pathLst>
                <a:path w="1066718" h="1639143">
                  <a:moveTo>
                    <a:pt x="0" y="0"/>
                  </a:moveTo>
                  <a:lnTo>
                    <a:pt x="1066718" y="0"/>
                  </a:lnTo>
                  <a:lnTo>
                    <a:pt x="1066718" y="1639143"/>
                  </a:lnTo>
                  <a:lnTo>
                    <a:pt x="0" y="1639143"/>
                  </a:lnTo>
                  <a:close/>
                </a:path>
              </a:pathLst>
            </a:custGeom>
            <a:blipFill>
              <a:blip r:embed="rId2"/>
              <a:stretch>
                <a:fillRect l="-15770" r="-1577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57614" y="2284819"/>
            <a:ext cx="138787" cy="5917243"/>
            <a:chOff x="0" y="0"/>
            <a:chExt cx="36553" cy="15584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553" cy="1558451"/>
            </a:xfrm>
            <a:custGeom>
              <a:avLst/>
              <a:gdLst/>
              <a:ahLst/>
              <a:cxnLst/>
              <a:rect l="l" t="t" r="r" b="b"/>
              <a:pathLst>
                <a:path w="36553" h="1558451">
                  <a:moveTo>
                    <a:pt x="0" y="0"/>
                  </a:moveTo>
                  <a:lnTo>
                    <a:pt x="36553" y="0"/>
                  </a:lnTo>
                  <a:lnTo>
                    <a:pt x="36553" y="1558451"/>
                  </a:lnTo>
                  <a:lnTo>
                    <a:pt x="0" y="155845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36553" cy="1577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06639" y="1884769"/>
            <a:ext cx="954747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25"/>
              </a:lnSpc>
              <a:spcBef>
                <a:spcPct val="0"/>
              </a:spcBef>
            </a:pPr>
            <a:r>
              <a:rPr lang="en-US" sz="5021" b="1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1520" y="2907333"/>
            <a:ext cx="10022298" cy="205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768" lvl="1" indent="-255384" algn="l">
              <a:lnSpc>
                <a:spcPts val="3264"/>
              </a:lnSpc>
              <a:buFont typeface="Arial"/>
              <a:buChar char="•"/>
            </a:pP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Esta Logistica </a:t>
            </a:r>
            <a:r>
              <a:rPr lang="en-US" sz="2365" dirty="0" err="1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gestiona</a:t>
            </a: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65" dirty="0" err="1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devoluciones</a:t>
            </a: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65" dirty="0" err="1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directas</a:t>
            </a: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65" dirty="0" err="1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desde</a:t>
            </a: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 buyer a seller.</a:t>
            </a:r>
          </a:p>
          <a:p>
            <a:pPr algn="l">
              <a:lnSpc>
                <a:spcPts val="3264"/>
              </a:lnSpc>
            </a:pPr>
            <a:endParaRPr lang="en-US" sz="2365" dirty="0">
              <a:solidFill>
                <a:srgbClr val="EED13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0768" lvl="1" indent="-255384" algn="l">
              <a:lnSpc>
                <a:spcPts val="3264"/>
              </a:lnSpc>
              <a:buFont typeface="Arial"/>
              <a:buChar char="•"/>
            </a:pP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Los sellers </a:t>
            </a:r>
            <a:r>
              <a:rPr lang="en-US" sz="2365" dirty="0" err="1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tienen</a:t>
            </a: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 un </a:t>
            </a:r>
            <a:r>
              <a:rPr lang="en-US" sz="2365" dirty="0" err="1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plazo</a:t>
            </a: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 de 3 días para </a:t>
            </a:r>
            <a:r>
              <a:rPr lang="en-US" sz="2365" dirty="0" err="1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reclamar</a:t>
            </a: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65" dirty="0" err="1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tras</a:t>
            </a: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65" dirty="0" err="1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recibir</a:t>
            </a: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2365" dirty="0" err="1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devolución</a:t>
            </a:r>
            <a:r>
              <a:rPr lang="en-US" sz="2365" dirty="0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0" lvl="0" indent="0" algn="l">
              <a:lnSpc>
                <a:spcPts val="2850"/>
              </a:lnSpc>
              <a:spcBef>
                <a:spcPct val="0"/>
              </a:spcBef>
            </a:pPr>
            <a:endParaRPr lang="en-US" sz="2365" dirty="0">
              <a:solidFill>
                <a:srgbClr val="EED13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06639" y="4837880"/>
            <a:ext cx="954747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25"/>
              </a:lnSpc>
              <a:spcBef>
                <a:spcPct val="0"/>
              </a:spcBef>
            </a:pPr>
            <a:r>
              <a:rPr lang="en-US" sz="5021" b="1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01520" y="6041877"/>
            <a:ext cx="10022298" cy="3216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0768" lvl="1" indent="-255384" algn="l">
              <a:lnSpc>
                <a:spcPts val="3264"/>
              </a:lnSpc>
              <a:buFont typeface="Arial"/>
              <a:buChar char="•"/>
            </a:pPr>
            <a:r>
              <a:rPr lang="en-US" sz="2365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Detectar patrones de comportamiento inapropiado o fraude.</a:t>
            </a:r>
          </a:p>
          <a:p>
            <a:pPr algn="l">
              <a:lnSpc>
                <a:spcPts val="3264"/>
              </a:lnSpc>
            </a:pPr>
            <a:endParaRPr lang="en-US" sz="2365">
              <a:solidFill>
                <a:srgbClr val="EED13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0768" lvl="1" indent="-255384" algn="l">
              <a:lnSpc>
                <a:spcPts val="3264"/>
              </a:lnSpc>
              <a:buFont typeface="Arial"/>
              <a:buChar char="•"/>
            </a:pPr>
            <a:r>
              <a:rPr lang="en-US" sz="2365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Priorizar categorías para revisión en fulfillment (triage).</a:t>
            </a:r>
          </a:p>
          <a:p>
            <a:pPr algn="l">
              <a:lnSpc>
                <a:spcPts val="3264"/>
              </a:lnSpc>
            </a:pPr>
            <a:endParaRPr lang="en-US" sz="2365">
              <a:solidFill>
                <a:srgbClr val="EED13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510768" lvl="1" indent="-255384" algn="l">
              <a:lnSpc>
                <a:spcPts val="3264"/>
              </a:lnSpc>
              <a:buFont typeface="Arial"/>
              <a:buChar char="•"/>
            </a:pPr>
            <a:r>
              <a:rPr lang="en-US" sz="2365">
                <a:solidFill>
                  <a:srgbClr val="EED130"/>
                </a:solidFill>
                <a:latin typeface="DM Sans"/>
                <a:ea typeface="DM Sans"/>
                <a:cs typeface="DM Sans"/>
                <a:sym typeface="DM Sans"/>
              </a:rPr>
              <a:t>Proponer recomendaciones operativas y estratégicas para reducir riesgos y mejorar experiencia de usuario.</a:t>
            </a:r>
          </a:p>
          <a:p>
            <a:pPr algn="l">
              <a:lnSpc>
                <a:spcPts val="3264"/>
              </a:lnSpc>
            </a:pPr>
            <a:endParaRPr lang="en-US" sz="2365">
              <a:solidFill>
                <a:srgbClr val="EED13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2850"/>
              </a:lnSpc>
              <a:spcBef>
                <a:spcPct val="0"/>
              </a:spcBef>
            </a:pPr>
            <a:endParaRPr lang="en-US" sz="2365">
              <a:solidFill>
                <a:srgbClr val="EED13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5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39304" y="416690"/>
            <a:ext cx="9120246" cy="9453620"/>
            <a:chOff x="0" y="0"/>
            <a:chExt cx="3461888" cy="35884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61888" cy="3588431"/>
            </a:xfrm>
            <a:custGeom>
              <a:avLst/>
              <a:gdLst/>
              <a:ahLst/>
              <a:cxnLst/>
              <a:rect l="l" t="t" r="r" b="b"/>
              <a:pathLst>
                <a:path w="3461888" h="3588431">
                  <a:moveTo>
                    <a:pt x="0" y="0"/>
                  </a:moveTo>
                  <a:lnTo>
                    <a:pt x="3461888" y="0"/>
                  </a:lnTo>
                  <a:lnTo>
                    <a:pt x="3461888" y="3588431"/>
                  </a:lnTo>
                  <a:lnTo>
                    <a:pt x="0" y="35884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61888" cy="3626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843468" y="1496364"/>
            <a:ext cx="8911918" cy="6196698"/>
          </a:xfrm>
          <a:custGeom>
            <a:avLst/>
            <a:gdLst/>
            <a:ahLst/>
            <a:cxnLst/>
            <a:rect l="l" t="t" r="r" b="b"/>
            <a:pathLst>
              <a:path w="8911918" h="6196698">
                <a:moveTo>
                  <a:pt x="0" y="0"/>
                </a:moveTo>
                <a:lnTo>
                  <a:pt x="8911918" y="0"/>
                </a:lnTo>
                <a:lnTo>
                  <a:pt x="8911918" y="6196698"/>
                </a:lnTo>
                <a:lnTo>
                  <a:pt x="0" y="6196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59180" y="981075"/>
            <a:ext cx="7006109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24"/>
              </a:lnSpc>
              <a:spcBef>
                <a:spcPct val="0"/>
              </a:spcBef>
            </a:pPr>
            <a:r>
              <a:rPr lang="en-US" sz="4687" b="1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Análisis de devoluciones por país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9180" y="2918184"/>
            <a:ext cx="6725607" cy="6019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190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rgentina lidera en cantidad de devoluciones y valorizado acumulado , representando aproximadamente un 52% del total analizado. Le sigue México y en menor medida, Chile y Colombia. 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22"/>
              </a:lnSpc>
            </a:pP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Esto indica que en Argentina debe priorizarse la eficiencia operativa y el control de alto valor, mientras que en México, la estrategia puede enfocarse en volumen.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22"/>
              </a:lnSpc>
            </a:pP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Chile y Colombia presentan volúmenes y valorizados significativamente menores, requiriendo monitoreo sin priorización inmediata de recursos operativos o financieros.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5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39304" y="416690"/>
            <a:ext cx="9120246" cy="9453620"/>
            <a:chOff x="0" y="0"/>
            <a:chExt cx="3461888" cy="35884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61888" cy="3588431"/>
            </a:xfrm>
            <a:custGeom>
              <a:avLst/>
              <a:gdLst/>
              <a:ahLst/>
              <a:cxnLst/>
              <a:rect l="l" t="t" r="r" b="b"/>
              <a:pathLst>
                <a:path w="3461888" h="3588431">
                  <a:moveTo>
                    <a:pt x="0" y="0"/>
                  </a:moveTo>
                  <a:lnTo>
                    <a:pt x="3461888" y="0"/>
                  </a:lnTo>
                  <a:lnTo>
                    <a:pt x="3461888" y="3588431"/>
                  </a:lnTo>
                  <a:lnTo>
                    <a:pt x="0" y="35884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61888" cy="3626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972550" y="1809733"/>
            <a:ext cx="8715550" cy="5538160"/>
          </a:xfrm>
          <a:custGeom>
            <a:avLst/>
            <a:gdLst/>
            <a:ahLst/>
            <a:cxnLst/>
            <a:rect l="l" t="t" r="r" b="b"/>
            <a:pathLst>
              <a:path w="8715550" h="5538160">
                <a:moveTo>
                  <a:pt x="0" y="0"/>
                </a:moveTo>
                <a:lnTo>
                  <a:pt x="8715550" y="0"/>
                </a:lnTo>
                <a:lnTo>
                  <a:pt x="8715550" y="5538160"/>
                </a:lnTo>
                <a:lnTo>
                  <a:pt x="0" y="553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59180" y="981075"/>
            <a:ext cx="7006109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24"/>
              </a:lnSpc>
              <a:spcBef>
                <a:spcPct val="0"/>
              </a:spcBef>
            </a:pPr>
            <a:r>
              <a:rPr lang="en-US" sz="4687" b="1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Impacto por modificar el plazo de reclamo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59180" y="2918184"/>
            <a:ext cx="6725607" cy="6874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Argentina tambien lidera en este apartado, seguido de Mexico.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2883" lvl="1" indent="-236441" algn="l">
              <a:lnSpc>
                <a:spcPts val="3022"/>
              </a:lnSpc>
              <a:buFont typeface="Arial"/>
              <a:buChar char="•"/>
            </a:pPr>
            <a:r>
              <a:rPr lang="en-US" sz="2190" b="1" u="none" strike="noStrike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Acortar el plazo</a:t>
            </a: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: reduciría aún más la cantidad de reclamos elegibles, minimizando el riesgo de fraude y el costo para Mercado Libre, pero podría generar insatisfacción en sellers legítimos que, por logística o gestión interna, reclaman tarde.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2883" lvl="1" indent="-236441" algn="l">
              <a:lnSpc>
                <a:spcPts val="3022"/>
              </a:lnSpc>
              <a:buFont typeface="Arial"/>
              <a:buChar char="•"/>
            </a:pPr>
            <a:r>
              <a:rPr lang="en-US" sz="2190" b="1" u="none" strike="noStrike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Alargar el plazo</a:t>
            </a: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: aumentaría el riesgo de reclamos fraudulentos, ampliando el monto pagado y dificultando la validación del estado del producto devuelto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22"/>
              </a:lnSpc>
            </a:pP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La decisión debe balancear experiencia del seller y control de costos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5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39304" y="416690"/>
            <a:ext cx="9120246" cy="9453620"/>
            <a:chOff x="0" y="0"/>
            <a:chExt cx="3461888" cy="35884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61888" cy="3588431"/>
            </a:xfrm>
            <a:custGeom>
              <a:avLst/>
              <a:gdLst/>
              <a:ahLst/>
              <a:cxnLst/>
              <a:rect l="l" t="t" r="r" b="b"/>
              <a:pathLst>
                <a:path w="3461888" h="3588431">
                  <a:moveTo>
                    <a:pt x="0" y="0"/>
                  </a:moveTo>
                  <a:lnTo>
                    <a:pt x="3461888" y="0"/>
                  </a:lnTo>
                  <a:lnTo>
                    <a:pt x="3461888" y="3588431"/>
                  </a:lnTo>
                  <a:lnTo>
                    <a:pt x="0" y="358843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61888" cy="3626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60910" y="483365"/>
            <a:ext cx="5797682" cy="5139870"/>
          </a:xfrm>
          <a:custGeom>
            <a:avLst/>
            <a:gdLst/>
            <a:ahLst/>
            <a:cxnLst/>
            <a:rect l="l" t="t" r="r" b="b"/>
            <a:pathLst>
              <a:path w="5797682" h="5139870">
                <a:moveTo>
                  <a:pt x="0" y="0"/>
                </a:moveTo>
                <a:lnTo>
                  <a:pt x="5797682" y="0"/>
                </a:lnTo>
                <a:lnTo>
                  <a:pt x="5797682" y="5139870"/>
                </a:lnTo>
                <a:lnTo>
                  <a:pt x="0" y="5139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11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55715" y="5689910"/>
            <a:ext cx="3467946" cy="2003933"/>
          </a:xfrm>
          <a:custGeom>
            <a:avLst/>
            <a:gdLst/>
            <a:ahLst/>
            <a:cxnLst/>
            <a:rect l="l" t="t" r="r" b="b"/>
            <a:pathLst>
              <a:path w="3467946" h="2003933">
                <a:moveTo>
                  <a:pt x="0" y="0"/>
                </a:moveTo>
                <a:lnTo>
                  <a:pt x="3467947" y="0"/>
                </a:lnTo>
                <a:lnTo>
                  <a:pt x="3467947" y="2003933"/>
                </a:lnTo>
                <a:lnTo>
                  <a:pt x="0" y="2003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558514" y="5661335"/>
            <a:ext cx="3435314" cy="2003933"/>
          </a:xfrm>
          <a:custGeom>
            <a:avLst/>
            <a:gdLst/>
            <a:ahLst/>
            <a:cxnLst/>
            <a:rect l="l" t="t" r="r" b="b"/>
            <a:pathLst>
              <a:path w="3435314" h="2003933">
                <a:moveTo>
                  <a:pt x="0" y="0"/>
                </a:moveTo>
                <a:lnTo>
                  <a:pt x="3435314" y="0"/>
                </a:lnTo>
                <a:lnTo>
                  <a:pt x="3435314" y="2003933"/>
                </a:lnTo>
                <a:lnTo>
                  <a:pt x="0" y="2003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323389" y="7731943"/>
            <a:ext cx="3634624" cy="2084892"/>
          </a:xfrm>
          <a:custGeom>
            <a:avLst/>
            <a:gdLst/>
            <a:ahLst/>
            <a:cxnLst/>
            <a:rect l="l" t="t" r="r" b="b"/>
            <a:pathLst>
              <a:path w="3634624" h="2084892">
                <a:moveTo>
                  <a:pt x="0" y="0"/>
                </a:moveTo>
                <a:lnTo>
                  <a:pt x="3634624" y="0"/>
                </a:lnTo>
                <a:lnTo>
                  <a:pt x="3634624" y="2084892"/>
                </a:lnTo>
                <a:lnTo>
                  <a:pt x="0" y="20848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40423" y="435740"/>
            <a:ext cx="7344022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24"/>
              </a:lnSpc>
              <a:spcBef>
                <a:spcPct val="0"/>
              </a:spcBef>
            </a:pPr>
            <a:r>
              <a:rPr lang="en-US" sz="4687" b="1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Categorías prioritarias para triage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0272" y="2120944"/>
            <a:ext cx="6725607" cy="839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190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unque las principales categorías de alto valor devuelto ya tienen triage encendido en la mayoría de sus segmentos, existen subcategorías que aún no. 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22"/>
              </a:lnSpc>
            </a:pP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Estas representan monton significativos expuestos a fraude o errores no controlados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22"/>
              </a:lnSpc>
            </a:pP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Esto sugiere priorizar la expansión de triage en estas subcategorías, especialmente en las que se encuentran dentro de la curva y tienen mayor % inactivo: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72883" lvl="1" indent="-236441" algn="l">
              <a:lnSpc>
                <a:spcPts val="3022"/>
              </a:lnSpc>
              <a:buFont typeface="Arial"/>
              <a:buChar char="•"/>
            </a:pP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Vehicle Parts &amp; Accessories</a:t>
            </a:r>
          </a:p>
          <a:p>
            <a:pPr marL="472883" lvl="1" indent="-236441" algn="l">
              <a:lnSpc>
                <a:spcPts val="3022"/>
              </a:lnSpc>
              <a:buFont typeface="Arial"/>
              <a:buChar char="•"/>
            </a:pP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Home Electronics</a:t>
            </a:r>
          </a:p>
          <a:p>
            <a:pPr marL="472883" lvl="1" indent="-236441" algn="l">
              <a:lnSpc>
                <a:spcPts val="3022"/>
              </a:lnSpc>
              <a:buFont typeface="Arial"/>
              <a:buChar char="•"/>
            </a:pP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Construction &amp; Industry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22"/>
              </a:lnSpc>
            </a:pPr>
            <a:r>
              <a:rPr lang="en-US" sz="2190" u="none" strike="noStrike">
                <a:solidFill>
                  <a:srgbClr val="EED130"/>
                </a:solidFill>
                <a:latin typeface="Poppins"/>
                <a:ea typeface="Poppins"/>
                <a:cs typeface="Poppins"/>
                <a:sym typeface="Poppins"/>
              </a:rPr>
              <a:t>Esto permitirá reducir riesgos financieros y operativos, fortaleciendo la experiencia de buyers y sellers en la plataforma.</a:t>
            </a: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22"/>
              </a:lnSpc>
            </a:pPr>
            <a:endParaRPr lang="en-US" sz="2190" u="none" strike="noStrike">
              <a:solidFill>
                <a:srgbClr val="EED13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2865" y="448479"/>
            <a:ext cx="17021103" cy="3345195"/>
            <a:chOff x="0" y="0"/>
            <a:chExt cx="4482924" cy="8810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82924" cy="881039"/>
            </a:xfrm>
            <a:custGeom>
              <a:avLst/>
              <a:gdLst/>
              <a:ahLst/>
              <a:cxnLst/>
              <a:rect l="l" t="t" r="r" b="b"/>
              <a:pathLst>
                <a:path w="4482924" h="881039">
                  <a:moveTo>
                    <a:pt x="0" y="0"/>
                  </a:moveTo>
                  <a:lnTo>
                    <a:pt x="4482924" y="0"/>
                  </a:lnTo>
                  <a:lnTo>
                    <a:pt x="4482924" y="881039"/>
                  </a:lnTo>
                  <a:lnTo>
                    <a:pt x="0" y="881039"/>
                  </a:lnTo>
                  <a:close/>
                </a:path>
              </a:pathLst>
            </a:custGeom>
            <a:solidFill>
              <a:srgbClr val="17157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482924" cy="900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95558" y="4650071"/>
            <a:ext cx="48086" cy="4752296"/>
            <a:chOff x="0" y="0"/>
            <a:chExt cx="12665" cy="12516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65" cy="1251633"/>
            </a:xfrm>
            <a:custGeom>
              <a:avLst/>
              <a:gdLst/>
              <a:ahLst/>
              <a:cxnLst/>
              <a:rect l="l" t="t" r="r" b="b"/>
              <a:pathLst>
                <a:path w="12665" h="1251633">
                  <a:moveTo>
                    <a:pt x="0" y="0"/>
                  </a:moveTo>
                  <a:lnTo>
                    <a:pt x="12665" y="0"/>
                  </a:lnTo>
                  <a:lnTo>
                    <a:pt x="12665" y="1251633"/>
                  </a:lnTo>
                  <a:lnTo>
                    <a:pt x="0" y="12516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2665" cy="127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37185" y="4650071"/>
            <a:ext cx="47625" cy="4752296"/>
            <a:chOff x="0" y="0"/>
            <a:chExt cx="12543" cy="12516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43" cy="1251633"/>
            </a:xfrm>
            <a:custGeom>
              <a:avLst/>
              <a:gdLst/>
              <a:ahLst/>
              <a:cxnLst/>
              <a:rect l="l" t="t" r="r" b="b"/>
              <a:pathLst>
                <a:path w="12543" h="1251633">
                  <a:moveTo>
                    <a:pt x="0" y="0"/>
                  </a:moveTo>
                  <a:lnTo>
                    <a:pt x="12543" y="0"/>
                  </a:lnTo>
                  <a:lnTo>
                    <a:pt x="12543" y="1251633"/>
                  </a:lnTo>
                  <a:lnTo>
                    <a:pt x="0" y="12516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2543" cy="127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97327" y="4450898"/>
            <a:ext cx="1662985" cy="166298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157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11924" y="4450898"/>
            <a:ext cx="1662985" cy="166298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157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807503" y="4450898"/>
            <a:ext cx="1662985" cy="1662985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157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35869" y="470059"/>
            <a:ext cx="15215021" cy="149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69"/>
              </a:lnSpc>
              <a:spcBef>
                <a:spcPct val="0"/>
              </a:spcBef>
            </a:pPr>
            <a:r>
              <a:rPr lang="en-US" sz="8383" b="1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Recomendaciones finales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5453" y="6397480"/>
            <a:ext cx="6186733" cy="83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341" b="1" spc="51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Implementar modelo predictivo de fraude en devoluciones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60417" y="6397480"/>
            <a:ext cx="4605547" cy="83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231"/>
              </a:lnSpc>
              <a:spcBef>
                <a:spcPct val="0"/>
              </a:spcBef>
            </a:pPr>
            <a:r>
              <a:rPr lang="en-US" sz="2341" b="1" spc="51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Diseñar dashboards op</a:t>
            </a:r>
            <a:r>
              <a:rPr lang="en-US" sz="2341" b="1" u="none" strike="noStrike" spc="51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erativos y estratégicos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3778" y="7687358"/>
            <a:ext cx="5654883" cy="142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5027" lvl="1" indent="-177514" algn="just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606060"/>
                </a:solidFill>
                <a:latin typeface="Poppins"/>
                <a:ea typeface="Poppins"/>
                <a:cs typeface="Poppins"/>
                <a:sym typeface="Poppins"/>
              </a:rPr>
              <a:t>Historial de reclamos fuera de plazo por seller.</a:t>
            </a:r>
          </a:p>
          <a:p>
            <a:pPr marL="355027" lvl="1" indent="-177514" algn="just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606060"/>
                </a:solidFill>
                <a:latin typeface="Poppins"/>
                <a:ea typeface="Poppins"/>
                <a:cs typeface="Poppins"/>
                <a:sym typeface="Poppins"/>
              </a:rPr>
              <a:t>Categoría del producto y valor del GMV.</a:t>
            </a:r>
          </a:p>
          <a:p>
            <a:pPr marL="355027" lvl="1" indent="-177514" algn="just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606060"/>
                </a:solidFill>
                <a:latin typeface="Poppins"/>
                <a:ea typeface="Poppins"/>
                <a:cs typeface="Poppins"/>
                <a:sym typeface="Poppins"/>
              </a:rPr>
              <a:t>Frecuencia de devoluciones por item.</a:t>
            </a:r>
          </a:p>
          <a:p>
            <a:pPr algn="just">
              <a:lnSpc>
                <a:spcPts val="2269"/>
              </a:lnSpc>
            </a:pPr>
            <a:endParaRPr lang="en-US" sz="1644" spc="161">
              <a:solidFill>
                <a:srgbClr val="606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522186" y="7687358"/>
            <a:ext cx="5168401" cy="857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9"/>
              </a:lnSpc>
            </a:pPr>
            <a:r>
              <a:rPr lang="en-US" sz="1644" spc="161">
                <a:solidFill>
                  <a:srgbClr val="606060"/>
                </a:solidFill>
                <a:latin typeface="Poppins"/>
                <a:ea typeface="Poppins"/>
                <a:cs typeface="Poppins"/>
                <a:sym typeface="Poppins"/>
              </a:rPr>
              <a:t>Generar un ranking semanal o mensual de sellers con mayor cantidad y proporción de reclamos fuera de plazo.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93611" y="6397480"/>
            <a:ext cx="5414999" cy="832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231"/>
              </a:lnSpc>
              <a:spcBef>
                <a:spcPct val="0"/>
              </a:spcBef>
            </a:pPr>
            <a:r>
              <a:rPr lang="en-US" sz="2341" b="1" spc="51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Monitorear sell</a:t>
            </a:r>
            <a:r>
              <a:rPr lang="en-US" sz="2341" b="1" u="none" strike="noStrike" spc="51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ers con reclamos fuera de plazo recurrentes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67372" y="4650107"/>
            <a:ext cx="1722894" cy="1102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1"/>
              </a:lnSpc>
            </a:pPr>
            <a:r>
              <a:rPr lang="en-US" sz="6211" b="1" spc="136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81969" y="4650107"/>
            <a:ext cx="1722894" cy="1102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1"/>
              </a:lnSpc>
            </a:pPr>
            <a:r>
              <a:rPr lang="en-US" sz="6211" b="1" spc="136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801743" y="4675887"/>
            <a:ext cx="1722894" cy="1102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1"/>
              </a:lnSpc>
            </a:pPr>
            <a:r>
              <a:rPr lang="en-US" sz="6211" b="1" spc="136">
                <a:solidFill>
                  <a:srgbClr val="EED130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5869" y="2221504"/>
            <a:ext cx="16230600" cy="951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69"/>
              </a:lnSpc>
            </a:pPr>
            <a:r>
              <a:rPr lang="en-US" sz="25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Implementar estas recomendaciones permitirá reducir la exposición económica y operativa, optimizar recursos de revisión y fortalecer la confianza de buyers y sellers en la plataforma.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061010" y="7687358"/>
            <a:ext cx="5992591" cy="2286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5027" lvl="1" indent="-177514" algn="just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606060"/>
                </a:solidFill>
                <a:latin typeface="Poppins"/>
                <a:ea typeface="Poppins"/>
                <a:cs typeface="Poppins"/>
                <a:sym typeface="Poppins"/>
              </a:rPr>
              <a:t>% de reclamos fuera de plazo por país, categoría y seller.</a:t>
            </a:r>
          </a:p>
          <a:p>
            <a:pPr marL="355027" lvl="1" indent="-177514" algn="just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606060"/>
                </a:solidFill>
                <a:latin typeface="Poppins"/>
                <a:ea typeface="Poppins"/>
                <a:cs typeface="Poppins"/>
                <a:sym typeface="Poppins"/>
              </a:rPr>
              <a:t>Monto total devuelto por categoría y seller.</a:t>
            </a:r>
          </a:p>
          <a:p>
            <a:pPr marL="355027" lvl="1" indent="-177514" algn="just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606060"/>
                </a:solidFill>
                <a:latin typeface="Poppins"/>
                <a:ea typeface="Poppins"/>
                <a:cs typeface="Poppins"/>
                <a:sym typeface="Poppins"/>
              </a:rPr>
              <a:t>% de devoluciones revisadas con triage.</a:t>
            </a:r>
          </a:p>
          <a:p>
            <a:pPr marL="355027" lvl="1" indent="-177514" algn="just">
              <a:lnSpc>
                <a:spcPts val="2269"/>
              </a:lnSpc>
              <a:buFont typeface="Arial"/>
              <a:buChar char="•"/>
            </a:pPr>
            <a:r>
              <a:rPr lang="en-US" sz="1644" spc="161">
                <a:solidFill>
                  <a:srgbClr val="606060"/>
                </a:solidFill>
                <a:latin typeface="Poppins"/>
                <a:ea typeface="Poppins"/>
                <a:cs typeface="Poppins"/>
                <a:sym typeface="Poppins"/>
              </a:rPr>
              <a:t>Top sellers por cantidad y monto de devoluciones.</a:t>
            </a:r>
          </a:p>
          <a:p>
            <a:pPr algn="just">
              <a:lnSpc>
                <a:spcPts val="2269"/>
              </a:lnSpc>
            </a:pPr>
            <a:endParaRPr lang="en-US" sz="1644" spc="161">
              <a:solidFill>
                <a:srgbClr val="60606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269"/>
              </a:lnSpc>
            </a:pPr>
            <a:endParaRPr lang="en-US" sz="1644" spc="161">
              <a:solidFill>
                <a:srgbClr val="606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473</Words>
  <Application>Microsoft Office PowerPoint</Application>
  <PresentationFormat>Personalizado</PresentationFormat>
  <Paragraphs>53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Poppins</vt:lpstr>
      <vt:lpstr>Poppins Bold</vt:lpstr>
      <vt:lpstr>DM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profesional para consultora celeste</dc:title>
  <cp:lastModifiedBy>Juan Pablo Grossi</cp:lastModifiedBy>
  <cp:revision>1</cp:revision>
  <dcterms:created xsi:type="dcterms:W3CDTF">2006-08-16T00:00:00Z</dcterms:created>
  <dcterms:modified xsi:type="dcterms:W3CDTF">2026-03-17T02:07:29Z</dcterms:modified>
  <dc:identifier>DAGsifK0ZYk</dc:identifier>
</cp:coreProperties>
</file>